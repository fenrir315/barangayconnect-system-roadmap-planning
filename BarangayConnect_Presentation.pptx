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4" r:id="rId15"/>
    <p:sldId id="261" r:id="rId12"/>
    <p:sldId id="262" r:id="rId13"/>
    <p:sldId id="265" r:id="rId16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58968" y="1005840"/>
            <a:ext cx="1280160" cy="1280160"/>
          </a:xfrm>
          <a:prstGeom prst="ellipse">
            <a:avLst/>
          </a:prstGeom>
          <a:solidFill>
            <a:srgbClr val="16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79008" y="1325880"/>
            <a:ext cx="640080" cy="64008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58968" y="1005840"/>
            <a:ext cx="1280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2A4C"/>
                </a:solidFill>
                <a:latin typeface="Calibri"/>
              </a:rPr>
              <a:t>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651760"/>
            <a:ext cx="1219169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Calibri"/>
              </a:rPr>
              <a:t>BarangayConnect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3675887"/>
            <a:ext cx="2679192" cy="381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3977639"/>
            <a:ext cx="96012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>
                <a:solidFill>
                  <a:srgbClr val="D5E0EE"/>
                </a:solidFill>
                <a:latin typeface="Calibri"/>
              </a:rPr>
              <a:t>A Digital Barangay Management System
Transforming Community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172200"/>
            <a:ext cx="1219169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9AAFC6"/>
                </a:solidFill>
                <a:latin typeface="Calibri"/>
              </a:rPr>
              <a:t>Barangay Operations · Resident Services · Smart Governance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0"/>
            <a:ext cx="8686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0"/>
            <a:ext cx="28346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C9D6E8"/>
                </a:solidFill>
                <a:latin typeface="Calibri"/>
              </a:rPr>
              <a:t>Why change is needed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960120" cy="384048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0"/>
            <a:ext cx="9601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2A4C"/>
                </a:solidFill>
                <a:latin typeface="Calibri"/>
              </a:rPr>
              <a:t>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106984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1600">
                <a:solidFill>
                  <a:srgbClr val="F2B418"/>
                </a:solidFill>
                <a:latin typeface="Calibri"/>
              </a:rPr>
              <a:t>▶ </a:t>
            </a:r>
            <a:r>
              <a:rPr sz="2000" b="1">
                <a:solidFill>
                  <a:srgbClr val="243244"/>
                </a:solidFill>
                <a:latin typeface="Calibri"/>
              </a:rPr>
              <a:t>Manual, paper-based processes slow down everyday barangay work</a:t>
            </a:r>
          </a:p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1600">
                <a:solidFill>
                  <a:srgbClr val="F2B418"/>
                </a:solidFill>
                <a:latin typeface="Calibri"/>
              </a:rPr>
              <a:t>▶ </a:t>
            </a:r>
            <a:r>
              <a:rPr sz="2000" b="0">
                <a:solidFill>
                  <a:srgbClr val="243244"/>
                </a:solidFill>
                <a:latin typeface="Calibri"/>
              </a:rPr>
              <a:t>Document requests are hard to track and take days to process</a:t>
            </a:r>
          </a:p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1600">
                <a:solidFill>
                  <a:srgbClr val="F2B418"/>
                </a:solidFill>
                <a:latin typeface="Calibri"/>
              </a:rPr>
              <a:t>▶ </a:t>
            </a:r>
            <a:r>
              <a:rPr sz="2000" b="0">
                <a:solidFill>
                  <a:srgbClr val="243244"/>
                </a:solidFill>
                <a:latin typeface="Calibri"/>
              </a:rPr>
              <a:t>Resident records are scattered across notebooks, logs, and files</a:t>
            </a:r>
          </a:p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1600">
                <a:solidFill>
                  <a:srgbClr val="F2B418"/>
                </a:solidFill>
                <a:latin typeface="Calibri"/>
              </a:rPr>
              <a:t>▶ </a:t>
            </a:r>
            <a:r>
              <a:rPr sz="2000" b="0">
                <a:solidFill>
                  <a:srgbClr val="243244"/>
                </a:solidFill>
                <a:latin typeface="Calibri"/>
              </a:rPr>
              <a:t>Complaints and incidents are hard to monitor and resolve on time</a:t>
            </a:r>
          </a:p>
          <a:p>
            <a:pPr>
              <a:lnSpc>
                <a:spcPct val="105000"/>
              </a:lnSpc>
              <a:spcAft>
                <a:spcPts val="2200"/>
              </a:spcAft>
            </a:pPr>
            <a:r>
              <a:rPr sz="1600">
                <a:solidFill>
                  <a:srgbClr val="F2B418"/>
                </a:solidFill>
                <a:latin typeface="Calibri"/>
              </a:rPr>
              <a:t>▶ </a:t>
            </a:r>
            <a:r>
              <a:rPr sz="2000" b="0">
                <a:solidFill>
                  <a:srgbClr val="243244"/>
                </a:solidFill>
                <a:latin typeface="Calibri"/>
              </a:rPr>
              <a:t>Residents have limited visibility into barangay services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0"/>
            <a:ext cx="8686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0"/>
            <a:ext cx="28346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C9D6E8"/>
                </a:solidFill>
                <a:latin typeface="Calibri"/>
              </a:rPr>
              <a:t>What BarangayConnect delivers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960120" cy="384048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0"/>
            <a:ext cx="9601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2A4C"/>
                </a:solidFill>
                <a:latin typeface="Calibri"/>
              </a:rPr>
              <a:t>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5074920" cy="1965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28800"/>
            <a:ext cx="82296" cy="196596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38528"/>
            <a:ext cx="4617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One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04288"/>
            <a:ext cx="46177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Full-stack web system built end-to-end for barangay operations.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1828800"/>
            <a:ext cx="5074920" cy="1965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828800"/>
            <a:ext cx="82296" cy="196596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938528"/>
            <a:ext cx="4617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All Operations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304288"/>
            <a:ext cx="46177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Residents, documents, appointments, complaints, incidents, payments and announcements in one place.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251960"/>
            <a:ext cx="5074920" cy="1965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251960"/>
            <a:ext cx="82296" cy="196596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361688"/>
            <a:ext cx="4617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White-Label Ready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727448"/>
            <a:ext cx="46177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Client-presentable, customizable per-barangay branding.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4251960"/>
            <a:ext cx="5074920" cy="1965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4251960"/>
            <a:ext cx="82296" cy="196596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4361688"/>
            <a:ext cx="4617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Secure by 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727448"/>
            <a:ext cx="46177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Role-based access, per-user data scoping and full audit trails.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0"/>
            <a:ext cx="8686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Admin Portal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0"/>
            <a:ext cx="28346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C9D6E8"/>
                </a:solidFill>
                <a:latin typeface="Calibri"/>
              </a:rPr>
              <a:t>Governance tools for Barangay officials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960120" cy="384048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0"/>
            <a:ext cx="9601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2A4C"/>
                </a:solidFill>
                <a:latin typeface="Calibri"/>
              </a:rPr>
              <a:t>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54480"/>
            <a:ext cx="53035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554480"/>
            <a:ext cx="82296" cy="9144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64208"/>
            <a:ext cx="4846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Dashboard &amp; Analytics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0299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Population stats: age group, sex, purok. Recent requests at a glance.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554480"/>
            <a:ext cx="53035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82296" cy="9144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664208"/>
            <a:ext cx="4846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Residents &amp; Households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0299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Full CRUD, search, filter, deactivate. Scan &amp; attach documents and photos.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063240"/>
            <a:ext cx="53035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" y="3063240"/>
            <a:ext cx="82296" cy="9144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172968"/>
            <a:ext cx="4846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Document Workflow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387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Approve → Certificate Generation → Release with print-ready PDFs.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063240"/>
            <a:ext cx="53035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3063240"/>
            <a:ext cx="82296" cy="9144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172968"/>
            <a:ext cx="4846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Complaints &amp; Incidents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5387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Status workflows with photo/scan evidence and resolution tracking.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572000"/>
            <a:ext cx="53035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" y="4572000"/>
            <a:ext cx="82296" cy="9144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681728"/>
            <a:ext cx="4846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Appointments &amp; Payments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0474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Confirm, complete, cancel or no-show. Track barangay transactions.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4572000"/>
            <a:ext cx="53035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4572000"/>
            <a:ext cx="82296" cy="9144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681728"/>
            <a:ext cx="4846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Announcements &amp; Alerts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0474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Publish announcements with attachments; in-app notification plus queued email.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5623560"/>
            <a:ext cx="53035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4360" y="5623560"/>
            <a:ext cx="82296" cy="9144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733288"/>
            <a:ext cx="4846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Reports &amp; Exports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60990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Analytics, revenue summary and Excel export (one sheet per module).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0" y="5623560"/>
            <a:ext cx="53035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09360" y="5623560"/>
            <a:ext cx="82296" cy="9144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5733288"/>
            <a:ext cx="4846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Audit &amp; Officials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60990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Full administrative trail and records for elected officials.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0"/>
            <a:ext cx="8686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Resident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0"/>
            <a:ext cx="28346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C9D6E8"/>
                </a:solidFill>
                <a:latin typeface="Calibri"/>
              </a:rPr>
              <a:t>Accounts issued by the Barangay Office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960120" cy="384048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0"/>
            <a:ext cx="9601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2A4C"/>
                </a:solidFill>
                <a:latin typeface="Calibri"/>
              </a:rPr>
              <a:t>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291840" cy="1920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645920"/>
            <a:ext cx="82296" cy="192024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55648"/>
            <a:ext cx="2834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21408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Manage your own profile anytime after signing 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45920"/>
            <a:ext cx="3291840" cy="1920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645920"/>
            <a:ext cx="82296" cy="192024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755648"/>
            <a:ext cx="2834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Documents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121408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Request &amp; track barangay certificates online.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1645920"/>
            <a:ext cx="3291840" cy="1920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1645920"/>
            <a:ext cx="82296" cy="192024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9" y="1755648"/>
            <a:ext cx="2834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Appointments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9" y="2121408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Book and manage visits conveniently.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206240"/>
            <a:ext cx="3291840" cy="1920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4206240"/>
            <a:ext cx="82296" cy="192024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315968"/>
            <a:ext cx="2834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Complaints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681728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File complaints with photo evidence.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4206240"/>
            <a:ext cx="3291840" cy="1920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4206240"/>
            <a:ext cx="82296" cy="192024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4315968"/>
            <a:ext cx="2834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Announcements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4681728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Latest barangay news and updates.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55279" y="4206240"/>
            <a:ext cx="3291840" cy="1920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55279" y="4206240"/>
            <a:ext cx="82296" cy="192024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599" y="4315968"/>
            <a:ext cx="2834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Notifications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599" y="4681728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In-app alerts for every activity, plus optional queued email.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0"/>
            <a:ext cx="8686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Security &amp; Access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0"/>
            <a:ext cx="28346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C9D6E8"/>
                </a:solidFill>
                <a:latin typeface="Calibri"/>
              </a:rPr>
              <a:t>Data you can trust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960120" cy="384048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0"/>
            <a:ext cx="9601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2A4C"/>
                </a:solidFill>
                <a:latin typeface="Calibri"/>
              </a:rPr>
              <a:t>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5120640" cy="1234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554480"/>
            <a:ext cx="82296" cy="123444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664208"/>
            <a:ext cx="4663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Role-Based Access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029968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Six roles: Captain, Secretary, Treasurer, Kagawad, Staff, Resident.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554480"/>
            <a:ext cx="5120640" cy="1234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82296" cy="123444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664208"/>
            <a:ext cx="4663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Auto-Scoped 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029968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Resident reads and writes are scoped to their own records.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108960"/>
            <a:ext cx="5120640" cy="1234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108960"/>
            <a:ext cx="82296" cy="123444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218688"/>
            <a:ext cx="4663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Audit Logging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584448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Administrative activity trail, server-side only.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108960"/>
            <a:ext cx="5120640" cy="1234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3108960"/>
            <a:ext cx="82296" cy="123444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218688"/>
            <a:ext cx="4663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Hardened Auth and Storage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584448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bcrypt, HttpOnly sessions, 5-try lockout, default passwords refused; per-resident validated uploads.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4572000"/>
            <a:ext cx="4846320" cy="1737360"/>
          </a:xfrm>
          <a:prstGeom prst="roundRect">
            <a:avLst/>
          </a:prstGeom>
          <a:solidFill>
            <a:srgbClr val="16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4754880"/>
            <a:ext cx="4846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2B418"/>
                </a:solidFill>
                <a:latin typeface="Calibri"/>
              </a:rPr>
              <a:t>DEFENSE IN DEPTH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5303520"/>
            <a:ext cx="41148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Public QR verification for issued certificates, secure uploads,
and scoped resident data access.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0"/>
            <a:ext cx="8686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0"/>
            <a:ext cx="28346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C9D6E8"/>
                </a:solidFill>
                <a:latin typeface="Calibri"/>
              </a:rPr>
              <a:t>Modern, proven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960120" cy="384048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0"/>
            <a:ext cx="9601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2A4C"/>
                </a:solidFill>
                <a:latin typeface="Calibri"/>
              </a:rPr>
              <a:t>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512064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600200"/>
            <a:ext cx="82296" cy="128016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9928"/>
            <a:ext cx="4663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075688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Next.js 16 · TypeScript · Tailwind CSS v4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600200"/>
            <a:ext cx="512064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600200"/>
            <a:ext cx="82296" cy="128016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709928"/>
            <a:ext cx="4663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UI &amp; Charts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075688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Radix UI · Lucide Icons · Recharts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154680"/>
            <a:ext cx="512064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154680"/>
            <a:ext cx="82296" cy="128016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264408"/>
            <a:ext cx="4663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Auth &amp;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630168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Local auth · bcrypt · HttpOnly sessions · RBAC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154680"/>
            <a:ext cx="512064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3154680"/>
            <a:ext cx="82296" cy="128016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264408"/>
            <a:ext cx="4663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Database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630168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PostgreSQL, self-hosted on-premise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709160"/>
            <a:ext cx="512064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4709160"/>
            <a:ext cx="82296" cy="128016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818888"/>
            <a:ext cx="4663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PDF &amp; Documents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184648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React-PDF · jsPDF + autotable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4709160"/>
            <a:ext cx="512064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4709160"/>
            <a:ext cx="82296" cy="128016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818888"/>
            <a:ext cx="46634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Excel Export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184648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SheetJS (xlsx) · Export All workbooks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58968" y="1005840"/>
            <a:ext cx="1280160" cy="1280160"/>
          </a:xfrm>
          <a:prstGeom prst="ellipse">
            <a:avLst/>
          </a:prstGeom>
          <a:solidFill>
            <a:srgbClr val="16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79008" y="1325880"/>
            <a:ext cx="640080" cy="64008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58968" y="1005840"/>
            <a:ext cx="1280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2A4C"/>
                </a:solidFill>
                <a:latin typeface="Calibri"/>
              </a:rPr>
              <a:t>BC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651760"/>
            <a:ext cx="1219169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Calibri"/>
              </a:rPr>
              <a:t>BarangayConnect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3675887"/>
            <a:ext cx="2679192" cy="381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3977639"/>
            <a:ext cx="96012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>
                <a:solidFill>
                  <a:srgbClr val="D5E0EE"/>
                </a:solidFill>
                <a:latin typeface="Calibri"/>
              </a:rPr>
              <a:t>Building Smarter, More Connected Communities
Thank You for Your Attention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172200"/>
            <a:ext cx="1219169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9AAFC6"/>
                </a:solidFill>
                <a:latin typeface="Calibri"/>
              </a:rPr>
              <a:t>BarangayConnect · Digital Governance, Made Simple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0"/>
            <a:ext cx="8686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Accounts &amp;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0"/>
            <a:ext cx="28346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C9D6E8"/>
                </a:solidFill>
                <a:latin typeface="Calibri"/>
              </a:rPr>
              <a:t>Barangay-issued logins, no public signup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960120" cy="384048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0"/>
            <a:ext cx="9601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2A4C"/>
                </a:solidFill>
                <a:latin typeface="Calibri"/>
              </a:rPr>
              <a:t>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291840" cy="1920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645920"/>
            <a:ext cx="82296" cy="192024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55648"/>
            <a:ext cx="2834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Barangay-Issued Accounts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21408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Office creates resident login accounts inside the Residents module.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45920"/>
            <a:ext cx="3291840" cy="1920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645920"/>
            <a:ext cx="82296" cy="192024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755648"/>
            <a:ext cx="2834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Add Resident / Create Login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121408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Two entry points: new households or existing residents.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1645920"/>
            <a:ext cx="3291840" cy="1920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1645920"/>
            <a:ext cx="82296" cy="192024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9" y="1755648"/>
            <a:ext cx="2834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Office-Controlled Passwords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9" y="2121408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Admin sets the initial password for each resident account.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206240"/>
            <a:ext cx="3291840" cy="1920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4206240"/>
            <a:ext cx="82296" cy="192024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315968"/>
            <a:ext cx="2834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Active Immediately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681728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No verification email, no approval queue - ready at once.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4206240"/>
            <a:ext cx="3291840" cy="1920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4206240"/>
            <a:ext cx="82296" cy="192024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4315968"/>
            <a:ext cx="2834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No Public Signup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4681728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Self-signup and email OTP were removed from the portal.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55279" y="4206240"/>
            <a:ext cx="3291840" cy="1920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55279" y="4206240"/>
            <a:ext cx="82296" cy="192024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599" y="4315968"/>
            <a:ext cx="2834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Secure Defaults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599" y="4681728"/>
            <a:ext cx="2834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Common default passwords are refused and bcrypt-hashed.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08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0"/>
            <a:ext cx="86868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On-Premise &amp;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0"/>
            <a:ext cx="283464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C9D6E8"/>
                </a:solidFill>
                <a:latin typeface="Calibri"/>
              </a:rPr>
              <a:t>Self-hosted, always on, always backed up</a:t>
            </a:r>
          </a:p>
        </p:txBody>
      </p:sp>
      <p:sp>
        <p:nvSpPr>
          <p:cNvPr id="6" name="Rectangle 5"/>
          <p:cNvSpPr/>
          <p:nvPr/>
        </p:nvSpPr>
        <p:spPr>
          <a:xfrm>
            <a:off x="11231575" y="0"/>
            <a:ext cx="960120" cy="384048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0"/>
            <a:ext cx="9601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2A4C"/>
                </a:solidFill>
                <a:latin typeface="Calibri"/>
              </a:rPr>
              <a:t>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54480"/>
            <a:ext cx="53035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554480"/>
            <a:ext cx="82296" cy="9144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64208"/>
            <a:ext cx="4846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Fully Self-Hosted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0299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Runs on the barangay's own machine over the local network.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554480"/>
            <a:ext cx="53035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82296" cy="9144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664208"/>
            <a:ext cx="4846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On-Premise PostgreSQL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0299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Data is stored locally - nothing leaves the barangay.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063240"/>
            <a:ext cx="53035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" y="3063240"/>
            <a:ext cx="82296" cy="9144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172968"/>
            <a:ext cx="4846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Scheduled Auto-Start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387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App and tunnel launch automatically at boot.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063240"/>
            <a:ext cx="53035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3063240"/>
            <a:ext cx="82296" cy="9144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172968"/>
            <a:ext cx="4846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Health Monitoring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5387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Watches uptime and restarts services on failure.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572000"/>
            <a:ext cx="53035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" y="4572000"/>
            <a:ext cx="82296" cy="9144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681728"/>
            <a:ext cx="4846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Hourly Backups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0474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Automatic database backups with one-command restore.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4572000"/>
            <a:ext cx="53035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4572000"/>
            <a:ext cx="82296" cy="9144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681728"/>
            <a:ext cx="4846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Secure Remote Access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0474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Tunnel lets officials sign in from outside the office.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5623560"/>
            <a:ext cx="53035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4360" y="5623560"/>
            <a:ext cx="82296" cy="9144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733288"/>
            <a:ext cx="4846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No External Dependencies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60990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No reliance on third-party accounts or cloud services.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0" y="5623560"/>
            <a:ext cx="53035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09360" y="5623560"/>
            <a:ext cx="82296" cy="914400"/>
          </a:xfrm>
          <a:prstGeom prst="rect">
            <a:avLst/>
          </a:prstGeom>
          <a:solidFill>
            <a:srgbClr val="F2B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5733288"/>
            <a:ext cx="48463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A4C"/>
                </a:solidFill>
                <a:latin typeface="Calibri"/>
              </a:rPr>
              <a:t>Stop and Start on Demand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60990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243244"/>
                </a:solidFill>
                <a:latin typeface="Calibri"/>
              </a:rPr>
              <a:t>One command shuts down; one command starts it back up.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